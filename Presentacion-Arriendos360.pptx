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389120"/>
            <a:ext cx="12188952" cy="2468880"/>
          </a:xfrm>
          <a:prstGeom prst="rect">
            <a:avLst/>
          </a:prstGeom>
          <a:solidFill>
            <a:srgbClr val="17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834640"/>
            <a:ext cx="73152" cy="13716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</a:rPr>
              <a:t>ARRIENDOS360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060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38BDF8"/>
                </a:solidFill>
              </a:rPr>
              <a:t>Gestión Inteligente de Arrendamientos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52628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FDBF7"/>
                </a:solidFill>
              </a:rPr>
              <a:t>Laura Alejandra Merchán León
Juan Sebastián Díaz Rodríguez
Marlon Alexander Herrera Choachi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669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AA8D1"/>
                </a:solidFill>
              </a:rPr>
              <a:t>Ingeniería de Software I  |  Universidad Distrital  |  Junio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9601200" y="274320"/>
            <a:ext cx="548640" cy="54864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332720" y="1005840"/>
            <a:ext cx="548640" cy="548640"/>
          </a:xfrm>
          <a:prstGeom prst="rect">
            <a:avLst/>
          </a:prstGeom>
          <a:solidFill>
            <a:srgbClr val="357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064240" y="1737360"/>
            <a:ext cx="548640" cy="548640"/>
          </a:xfrm>
          <a:prstGeom prst="rect">
            <a:avLst/>
          </a:prstGeom>
          <a:solidFill>
            <a:srgbClr val="3F76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400" y="2468880"/>
            <a:ext cx="548640" cy="548640"/>
          </a:xfrm>
          <a:prstGeom prst="rect">
            <a:avLst/>
          </a:prstGeom>
          <a:solidFill>
            <a:srgbClr val="497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0" y="3200400"/>
            <a:ext cx="548640" cy="548640"/>
          </a:xfrm>
          <a:prstGeom prst="rect">
            <a:avLst/>
          </a:prstGeom>
          <a:solidFill>
            <a:srgbClr val="538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80160"/>
            <a:ext cx="12188952" cy="6400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El Problema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772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8BDF8"/>
                </a:solidFill>
              </a:rPr>
              <a:t>¿Por qué existe Arriendos360?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C4E8"/>
                </a:solidFill>
              </a:rPr>
              <a:t>Arriendos360  |  Universidad Distrital  |  Ingeniería de Software I  | 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38BDF8"/>
                </a:solidFill>
              </a:rPr>
              <a:t>0:20 – 0:50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554480"/>
            <a:ext cx="3474720" cy="411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554480"/>
            <a:ext cx="3474720" cy="64008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28800" y="173736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2B6CB0"/>
                </a:solidFill>
              </a:rPr>
              <a:t>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4688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E3A5F"/>
                </a:solidFill>
              </a:rPr>
              <a:t>Gestión manual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01752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475569"/>
                </a:solidFill>
              </a:rPr>
              <a:t>Propietarios usan Excel y
WhatsApp para controlar
sus arriendos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97680" y="1554480"/>
            <a:ext cx="3474720" cy="411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97680" y="1554480"/>
            <a:ext cx="3474720" cy="64008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0" y="173736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2B6CB0"/>
                </a:solidFill>
              </a:rPr>
              <a:t>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24688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E3A5F"/>
                </a:solidFill>
              </a:rPr>
              <a:t>Costos elevados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301752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475569"/>
                </a:solidFill>
              </a:rPr>
              <a:t>Inmobiliarias cobran 8-10%
mensual del canon de
arrendamiento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38160" y="1554480"/>
            <a:ext cx="3474720" cy="411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38160" y="1554480"/>
            <a:ext cx="3474720" cy="64008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09760" y="173736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2B6CB0"/>
                </a:solidFill>
              </a:rPr>
              <a:t>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24688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E3A5F"/>
                </a:solidFill>
              </a:rPr>
              <a:t>Contratos físicos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301752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475569"/>
                </a:solidFill>
              </a:rPr>
              <a:t>Documentos que se pierden,
alteran o simplemente
no se cumplen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371600" y="5760720"/>
            <a:ext cx="9418320" cy="50292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554480" y="580644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💡  Arriendos360: plataforma web que digitaliza contratos, pagos y estadísticas sin costos de intermediación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80160"/>
            <a:ext cx="12188952" cy="6400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Plan de Gestión (PMP)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772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8BDF8"/>
                </a:solidFill>
              </a:rPr>
              <a:t>Modelo iterativo incremental · 14 semanas · 420 horas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C4E8"/>
                </a:solidFill>
              </a:rPr>
              <a:t>Arriendos360  |  Universidad Distrital  |  Ingeniería de Software I  | 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38BDF8"/>
                </a:solidFill>
              </a:rPr>
              <a:t>0:50 – 1:50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554480"/>
            <a:ext cx="1234439" cy="47548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1627632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Sprint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737360" y="1554480"/>
            <a:ext cx="1234439" cy="47548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10512" y="1627632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Semanas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554480"/>
            <a:ext cx="2514600" cy="47548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90672" y="1627632"/>
            <a:ext cx="23774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Módulo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577840" y="1554480"/>
            <a:ext cx="1600200" cy="47548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50992" y="1627632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Story Points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223760" y="1554480"/>
            <a:ext cx="2514600" cy="47548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96912" y="1627632"/>
            <a:ext cx="23774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Responsable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2029967"/>
            <a:ext cx="1234439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0352" y="2121408"/>
            <a:ext cx="10972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75569"/>
                </a:solidFill>
              </a:rPr>
              <a:t>Sprint 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737360" y="2029967"/>
            <a:ext cx="1234439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810512" y="2121408"/>
            <a:ext cx="10972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75569"/>
                </a:solidFill>
              </a:rPr>
              <a:t>8 – 9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017520" y="2029967"/>
            <a:ext cx="251460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090672" y="2121408"/>
            <a:ext cx="2377439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75569"/>
                </a:solidFill>
              </a:rPr>
              <a:t>Contratos + Auth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77840" y="2029967"/>
            <a:ext cx="160020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50992" y="2121408"/>
            <a:ext cx="14630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75569"/>
                </a:solidFill>
              </a:rPr>
              <a:t>11 pts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23760" y="2029967"/>
            <a:ext cx="251460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96912" y="2121408"/>
            <a:ext cx="2377439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75569"/>
                </a:solidFill>
              </a:rPr>
              <a:t>Laura + Sebastián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2505456"/>
            <a:ext cx="1234439" cy="475488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0352" y="2596896"/>
            <a:ext cx="10972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75569"/>
                </a:solidFill>
              </a:rPr>
              <a:t>Sprint 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737360" y="2505456"/>
            <a:ext cx="1234439" cy="475488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810512" y="2596896"/>
            <a:ext cx="10972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75569"/>
                </a:solidFill>
              </a:rPr>
              <a:t>10 – 11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017520" y="2505456"/>
            <a:ext cx="2514600" cy="475488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090672" y="2596896"/>
            <a:ext cx="2377439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75569"/>
                </a:solidFill>
              </a:rPr>
              <a:t>Módulo Financiero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577840" y="2505456"/>
            <a:ext cx="1600200" cy="475488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650992" y="2596896"/>
            <a:ext cx="14630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75569"/>
                </a:solidFill>
              </a:rPr>
              <a:t>8 pts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223760" y="2505456"/>
            <a:ext cx="2514600" cy="475488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296912" y="2596896"/>
            <a:ext cx="2377439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75569"/>
                </a:solidFill>
              </a:rPr>
              <a:t>Sebastián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2980944"/>
            <a:ext cx="1234439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30352" y="3072384"/>
            <a:ext cx="10972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75569"/>
                </a:solidFill>
              </a:rPr>
              <a:t>Sprint 3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737360" y="2980944"/>
            <a:ext cx="1234439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810512" y="3072384"/>
            <a:ext cx="10972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75569"/>
                </a:solidFill>
              </a:rPr>
              <a:t>12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017520" y="2980944"/>
            <a:ext cx="251460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090672" y="3072384"/>
            <a:ext cx="2377439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75569"/>
                </a:solidFill>
              </a:rPr>
              <a:t>Dashboard + Infra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577840" y="2980944"/>
            <a:ext cx="160020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650992" y="3072384"/>
            <a:ext cx="14630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75569"/>
                </a:solidFill>
              </a:rPr>
              <a:t>5 pts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223760" y="2980944"/>
            <a:ext cx="251460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296912" y="3072384"/>
            <a:ext cx="2377439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75569"/>
                </a:solidFill>
              </a:rPr>
              <a:t>Marlon + Laura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57200" y="3456432"/>
            <a:ext cx="1234439" cy="475488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30352" y="3547872"/>
            <a:ext cx="10972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E3A5F"/>
                </a:solidFill>
              </a:rPr>
              <a:t>Total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737360" y="3456432"/>
            <a:ext cx="1234439" cy="475488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810512" y="3547872"/>
            <a:ext cx="10972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E3A5F"/>
                </a:solidFill>
              </a:rPr>
              <a:t>5 sem.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017520" y="3456432"/>
            <a:ext cx="2514600" cy="475488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090672" y="3547872"/>
            <a:ext cx="2377439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E3A5F"/>
                </a:solidFill>
              </a:rPr>
              <a:t>MVP completo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577840" y="3456432"/>
            <a:ext cx="1600200" cy="475488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650992" y="3547872"/>
            <a:ext cx="14630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E3A5F"/>
                </a:solidFill>
              </a:rPr>
              <a:t>24 pts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223760" y="3456432"/>
            <a:ext cx="2514600" cy="475488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296912" y="3547872"/>
            <a:ext cx="2377439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E3A5F"/>
                </a:solidFill>
              </a:rPr>
              <a:t>Todo el equipo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57200" y="4389120"/>
            <a:ext cx="274320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457200" y="4389120"/>
            <a:ext cx="274320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48640" y="448056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2B6CB0"/>
                </a:solidFill>
              </a:rPr>
              <a:t>420 hrs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48640" y="51206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75569"/>
                </a:solidFill>
              </a:rPr>
              <a:t>Esfuerzo total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383280" y="4389120"/>
            <a:ext cx="274320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3383280" y="4389120"/>
            <a:ext cx="274320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474720" y="448056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2B6CB0"/>
                </a:solidFill>
              </a:rPr>
              <a:t>3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474720" y="51206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75569"/>
                </a:solidFill>
              </a:rPr>
              <a:t>Integrantes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4389120"/>
            <a:ext cx="274320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309360" y="4389120"/>
            <a:ext cx="274320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400800" y="448056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2B6CB0"/>
                </a:solidFill>
              </a:rPr>
              <a:t>14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400800" y="51206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75569"/>
                </a:solidFill>
              </a:rPr>
              <a:t>Semanas</a:t>
            </a:r>
          </a:p>
        </p:txBody>
      </p:sp>
      <p:sp>
        <p:nvSpPr>
          <p:cNvPr id="72" name="Rectangle 71"/>
          <p:cNvSpPr/>
          <p:nvPr/>
        </p:nvSpPr>
        <p:spPr>
          <a:xfrm>
            <a:off x="9235440" y="4389120"/>
            <a:ext cx="274320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9235440" y="4389120"/>
            <a:ext cx="274320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9326880" y="448056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2B6CB0"/>
                </a:solidFill>
              </a:rPr>
              <a:t>$0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326880" y="51206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75569"/>
                </a:solidFill>
              </a:rPr>
              <a:t>Presupuesto efectivo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80160"/>
            <a:ext cx="12188952" cy="6400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Especificación de Requisitos (SRS)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772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8BDF8"/>
                </a:solidFill>
              </a:rPr>
              <a:t>19 Requisitos Funcionales · Priorización MoSCoW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C4E8"/>
                </a:solidFill>
              </a:rPr>
              <a:t>Arriendos360  |  Universidad Distrital  |  Ingeniería de Software I  | 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38BDF8"/>
                </a:solidFill>
              </a:rPr>
              <a:t>1:50 – 2:40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463040"/>
            <a:ext cx="5303520" cy="45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463040"/>
            <a:ext cx="5303520" cy="41148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5087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✅  MUST HAVE (Obligatorio)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965960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200">
                <a:solidFill>
                  <a:srgbClr val="475569"/>
                </a:solidFill>
              </a:rPr>
              <a:t>✔  RF-01: Registro de propietario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475569"/>
                </a:solidFill>
              </a:rPr>
              <a:t>✔  RF-03: Inicio de sesión JWT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475569"/>
                </a:solidFill>
              </a:rPr>
              <a:t>✔  RF-05: Roles diferenciados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475569"/>
                </a:solidFill>
              </a:rPr>
              <a:t>✔  RF-06: Registro de contratos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475569"/>
                </a:solidFill>
              </a:rPr>
              <a:t>✔  RF-09: Estados del contrato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475569"/>
                </a:solidFill>
              </a:rPr>
              <a:t>✔  RF-10: Registro de pagos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475569"/>
                </a:solidFill>
              </a:rPr>
              <a:t>✔  RF-12: Motor de mora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475569"/>
                </a:solidFill>
              </a:rPr>
              <a:t>✔  RF-14: Dashboard KPIs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475569"/>
                </a:solidFill>
              </a:rPr>
              <a:t>✔  RF-17: CRUD inmuebles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1463040"/>
            <a:ext cx="530352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26480" y="1463040"/>
            <a:ext cx="5303520" cy="41148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40" y="15087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🔵  SHOULD HAVE (Deseable)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1965960"/>
            <a:ext cx="4937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200">
                <a:solidFill>
                  <a:srgbClr val="475569"/>
                </a:solidFill>
              </a:rPr>
              <a:t>◎  RF-07: Carga PDF contrato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475569"/>
                </a:solidFill>
              </a:rPr>
              <a:t>◎  RF-11: Recibo de pago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475569"/>
                </a:solidFill>
              </a:rPr>
              <a:t>◎  RF-08: Validación PDF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26480" y="3749039"/>
            <a:ext cx="5303520" cy="1737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26480" y="3749039"/>
            <a:ext cx="5303520" cy="41148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63640" y="37947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🟠  COULD HAVE (Opcional)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4251960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200">
                <a:solidFill>
                  <a:srgbClr val="475569"/>
                </a:solidFill>
              </a:rPr>
              <a:t>◌  RF-15: Gráficos dinámicos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475569"/>
                </a:solidFill>
              </a:rPr>
              <a:t>◌  RF-16: Alertas visuales con color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26480" y="5623560"/>
            <a:ext cx="5303520" cy="868680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26480" y="5623560"/>
            <a:ext cx="530352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63640" y="5687568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F1D1D"/>
                </a:solidFill>
              </a:rPr>
              <a:t>🔴  WON'T HAVE: Pasarela de pagos, DIAN, SMS, App móvil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80160"/>
            <a:ext cx="12188952" cy="6400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Diseño del Software (SDD)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772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8BDF8"/>
                </a:solidFill>
              </a:rPr>
              <a:t>Arquitectura de 3 capas · Docker · PostgreSQL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C4E8"/>
                </a:solidFill>
              </a:rPr>
              <a:t>Arriendos360  |  Universidad Distrital  |  Ingeniería de Software I  | 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38BDF8"/>
                </a:solidFill>
              </a:rPr>
              <a:t>2:40 – 3:20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463040"/>
            <a:ext cx="3657600" cy="438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463040"/>
            <a:ext cx="3657600" cy="45720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50876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CAPA DE PRESENTACIÓN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9659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2B6CB0"/>
                </a:solidFill>
              </a:rPr>
              <a:t>React 18 · React Router · Axios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423160"/>
            <a:ext cx="32918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200">
                <a:solidFill>
                  <a:srgbClr val="475569"/>
                </a:solidFill>
              </a:rPr>
              <a:t>▸  Login.js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475569"/>
                </a:solidFill>
              </a:rPr>
              <a:t>▸  Dashboard.js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475569"/>
                </a:solidFill>
              </a:rPr>
              <a:t>▸  Contratos.js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475569"/>
                </a:solidFill>
              </a:rPr>
              <a:t>▸  Pagos.js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475569"/>
                </a:solidFill>
              </a:rPr>
              <a:t>▸  Inmuebles.js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86200" y="32918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B6CB0"/>
                </a:solidFill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97680" y="1463040"/>
            <a:ext cx="3657600" cy="438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97680" y="1463040"/>
            <a:ext cx="3657600" cy="4572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0" y="150876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CAPA DE LÓGICA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19659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7C3AED"/>
                </a:solidFill>
              </a:rPr>
              <a:t>Node.js · Express · JWT · Multer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2423160"/>
            <a:ext cx="32918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200">
                <a:solidFill>
                  <a:srgbClr val="475569"/>
                </a:solidFill>
              </a:rPr>
              <a:t>▸  auth.controller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475569"/>
                </a:solidFill>
              </a:rPr>
              <a:t>▸  contrato.controller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475569"/>
                </a:solidFill>
              </a:rPr>
              <a:t>▸  pago.controller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475569"/>
                </a:solidFill>
              </a:rPr>
              <a:t>▸  dashboard.controller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8120" y="32918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B6CB0"/>
                </a:solidFill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0" y="1463040"/>
            <a:ext cx="3657600" cy="438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9600" y="1463040"/>
            <a:ext cx="3657600" cy="457200"/>
          </a:xfrm>
          <a:prstGeom prst="rect">
            <a:avLst/>
          </a:prstGeom>
          <a:solidFill>
            <a:srgbClr val="0E7A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21040" y="150876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CAPA DE DATOS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19659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0E7A90"/>
                </a:solidFill>
              </a:rPr>
              <a:t>PostgreSQL · Sequelize ORM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2423160"/>
            <a:ext cx="32918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200">
                <a:solidFill>
                  <a:srgbClr val="475569"/>
                </a:solidFill>
              </a:rPr>
              <a:t>▸  usuarios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475569"/>
                </a:solidFill>
              </a:rPr>
              <a:t>▸  contratos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475569"/>
                </a:solidFill>
              </a:rPr>
              <a:t>▸  pagos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475569"/>
                </a:solidFill>
              </a:rPr>
              <a:t>▸  inmuebles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475569"/>
                </a:solidFill>
              </a:rPr>
              <a:t>▸  propietarios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4400" y="5943600"/>
            <a:ext cx="10332720" cy="4572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97280" y="5989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🐳  Docker Compose  ·  arriendos360_db  ·  arriendos360_api  ·  arriendos360_ui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0" y="201168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0" i="0">
                <a:solidFill>
                  <a:srgbClr val="38BDF8"/>
                </a:solidFill>
              </a:rPr>
              <a:t>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4023360"/>
            <a:ext cx="121889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</a:rPr>
              <a:t>DEMO EN VIVO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800600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38BDF8"/>
                </a:solidFill>
              </a:rPr>
              <a:t>Navegación por la aplicación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1115568" cy="347472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408176"/>
            <a:ext cx="9326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1. Login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1371600"/>
            <a:ext cx="1536192" cy="347472"/>
          </a:xfrm>
          <a:prstGeom prst="rect">
            <a:avLst/>
          </a:prstGeom>
          <a:solidFill>
            <a:srgbClr val="0E7A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408176"/>
            <a:ext cx="1353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2. Dashboard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371600"/>
            <a:ext cx="1431036" cy="347472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1408176"/>
            <a:ext cx="12481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3. Inmueble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61120" y="1371600"/>
            <a:ext cx="2061972" cy="347472"/>
          </a:xfrm>
          <a:prstGeom prst="rect">
            <a:avLst/>
          </a:prstGeom>
          <a:solidFill>
            <a:srgbClr val="0E7A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0" y="1408176"/>
            <a:ext cx="18790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4. Contrato + PDF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1874519"/>
            <a:ext cx="1115568" cy="347472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1911095"/>
            <a:ext cx="9326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5. Cobro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91840" y="1874519"/>
            <a:ext cx="1010412" cy="347472"/>
          </a:xfrm>
          <a:prstGeom prst="rect">
            <a:avLst/>
          </a:prstGeom>
          <a:solidFill>
            <a:srgbClr val="0E7A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83280" y="1911095"/>
            <a:ext cx="8275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6. Pago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26480" y="1874519"/>
            <a:ext cx="1010412" cy="347472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0" y="1911095"/>
            <a:ext cx="8275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7. Mora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61120" y="1874519"/>
            <a:ext cx="1220724" cy="347472"/>
          </a:xfrm>
          <a:prstGeom prst="rect">
            <a:avLst/>
          </a:prstGeom>
          <a:solidFill>
            <a:srgbClr val="0E7A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52560" y="1911095"/>
            <a:ext cx="10378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8. Recibo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C4E8"/>
                </a:solidFill>
              </a:rPr>
              <a:t>Arriendos360  |  Universidad Distrital  |  Ingeniería de Software I  | 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651052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38BDF8"/>
                </a:solidFill>
              </a:rPr>
              <a:t>3:20 – 7:20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80160"/>
            <a:ext cx="12188952" cy="6400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Trazabilidad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772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8BDF8"/>
                </a:solidFill>
              </a:rPr>
              <a:t>PMP → SRS → SDD → Código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C4E8"/>
                </a:solidFill>
              </a:rPr>
              <a:t>Arriendos360  |  Universidad Distrital  |  Ingeniería de Software I  | 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38BDF8"/>
                </a:solidFill>
              </a:rPr>
              <a:t>7:20 – 8:00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463040"/>
            <a:ext cx="2240280" cy="5029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79" y="1508760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PMP (Sprint)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97480" y="1463040"/>
            <a:ext cx="2880360" cy="50292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88920" y="1508760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SRS (Requisito)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15000" y="1463040"/>
            <a:ext cx="2880360" cy="5029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06440" y="1508760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SDD (Componente)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732520" y="1463040"/>
            <a:ext cx="2880360" cy="502920"/>
          </a:xfrm>
          <a:prstGeom prst="rect">
            <a:avLst/>
          </a:prstGeom>
          <a:solidFill>
            <a:srgbClr val="0E7A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23960" y="1508760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Código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2057400"/>
            <a:ext cx="224028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2194560"/>
            <a:ext cx="2103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75569"/>
                </a:solidFill>
              </a:rPr>
              <a:t>Sprint 1
Sem 8-9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697480" y="2057400"/>
            <a:ext cx="288036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88920" y="2194560"/>
            <a:ext cx="2743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75569"/>
                </a:solidFill>
              </a:rPr>
              <a:t>RF-01, RF-03, RF-05
RF-06, RF-07, RF-09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715000" y="2057400"/>
            <a:ext cx="288036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06440" y="2194560"/>
            <a:ext cx="2743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75569"/>
                </a:solidFill>
              </a:rPr>
              <a:t>Auth Service
Contract Service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732520" y="2057400"/>
            <a:ext cx="288036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23960" y="2194560"/>
            <a:ext cx="2743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75569"/>
                </a:solidFill>
              </a:rPr>
              <a:t>auth.controller.js
contrato.controller.js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3337560"/>
            <a:ext cx="2240280" cy="118872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79" y="3474720"/>
            <a:ext cx="2103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75569"/>
                </a:solidFill>
              </a:rPr>
              <a:t>Sprint 2
Sem 10-11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697480" y="3337560"/>
            <a:ext cx="2880360" cy="118872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88920" y="3474720"/>
            <a:ext cx="2743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75569"/>
                </a:solidFill>
              </a:rPr>
              <a:t>RF-10, RF-12, RF-13
RF-17, RF-18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715000" y="3337560"/>
            <a:ext cx="2880360" cy="118872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806440" y="3474720"/>
            <a:ext cx="2743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75569"/>
                </a:solidFill>
              </a:rPr>
              <a:t>Financial Service
Inmuebles Service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732520" y="3337560"/>
            <a:ext cx="2880360" cy="118872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23960" y="3474720"/>
            <a:ext cx="2743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75569"/>
                </a:solidFill>
              </a:rPr>
              <a:t>pago.controller.js
inmueble.controller.js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0040" y="4617720"/>
            <a:ext cx="224028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1479" y="4754880"/>
            <a:ext cx="2103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75569"/>
                </a:solidFill>
              </a:rPr>
              <a:t>Sprint 3
Sem 12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697480" y="4617720"/>
            <a:ext cx="288036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788920" y="4754880"/>
            <a:ext cx="2743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75569"/>
                </a:solidFill>
              </a:rPr>
              <a:t>RF-14, RF-16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715000" y="4617720"/>
            <a:ext cx="288036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806440" y="4754880"/>
            <a:ext cx="2743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75569"/>
                </a:solidFill>
              </a:rPr>
              <a:t>Dashboard Service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732520" y="4617720"/>
            <a:ext cx="288036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823960" y="4754880"/>
            <a:ext cx="2743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75569"/>
                </a:solidFill>
              </a:rPr>
              <a:t>dashboard.controller.js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80160"/>
            <a:ext cx="12188952" cy="6400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Resultados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772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8BDF8"/>
                </a:solidFill>
              </a:rPr>
              <a:t>Lo que logramos en 14 semanas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C4E8"/>
                </a:solidFill>
              </a:rPr>
              <a:t>Arriendos360  |  Universidad Distrital  |  Ingeniería de Software I  | 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38BDF8"/>
                </a:solidFill>
              </a:rPr>
              <a:t>8:00 – 8:20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554480"/>
            <a:ext cx="2743200" cy="411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554480"/>
            <a:ext cx="2743200" cy="7315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920240"/>
            <a:ext cx="2560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16A34A"/>
                </a:solidFill>
              </a:rPr>
              <a:t>12/19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200400"/>
            <a:ext cx="2560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475569"/>
                </a:solidFill>
              </a:rPr>
              <a:t>Requisitos
funcionales
completados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37560" y="1554480"/>
            <a:ext cx="2743200" cy="411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37560" y="1554480"/>
            <a:ext cx="2743200" cy="73152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29000" y="1920240"/>
            <a:ext cx="2560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2B6CB0"/>
                </a:solidFill>
              </a:rPr>
              <a:t>83%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9000" y="3200400"/>
            <a:ext cx="2560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475569"/>
                </a:solidFill>
              </a:rPr>
              <a:t>Story Points
entregados
(20 de 24)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1554480"/>
            <a:ext cx="2743200" cy="411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1554480"/>
            <a:ext cx="2743200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59" y="1920240"/>
            <a:ext cx="2560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7C3AED"/>
                </a:solidFill>
              </a:rPr>
              <a:t>15+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59" y="3200400"/>
            <a:ext cx="2560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475569"/>
                </a:solidFill>
              </a:rPr>
              <a:t>Endpoints
documentados
en Postman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98280" y="1554480"/>
            <a:ext cx="2743200" cy="411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098280" y="1554480"/>
            <a:ext cx="2743200" cy="73152"/>
          </a:xfrm>
          <a:prstGeom prst="rect">
            <a:avLst/>
          </a:prstGeom>
          <a:solidFill>
            <a:srgbClr val="0E7A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89719" y="1920240"/>
            <a:ext cx="2560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0E7A90"/>
                </a:solidFill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9719" y="3200400"/>
            <a:ext cx="2560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475569"/>
                </a:solidFill>
              </a:rPr>
              <a:t>Contenedores
Docker
funcionando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80160"/>
            <a:ext cx="12188952" cy="6400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Lecciones Aprendidas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772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8BDF8"/>
                </a:solidFill>
              </a:rPr>
              <a:t>Start · Stop · Continue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C4E8"/>
                </a:solidFill>
              </a:rPr>
              <a:t>Arriendos360  |  Universidad Distrital  |  Ingeniería de Software I  | 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38BDF8"/>
                </a:solidFill>
              </a:rPr>
              <a:t>8:20 – 9:00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463040"/>
            <a:ext cx="3657600" cy="4480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463040"/>
            <a:ext cx="3657600" cy="73152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737360" y="1600200"/>
            <a:ext cx="1097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2B6CB0"/>
                </a:solidFill>
              </a:rPr>
              <a:t>🗄️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5146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E3A5F"/>
                </a:solidFill>
              </a:rPr>
              <a:t>Laura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063240"/>
            <a:ext cx="32918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75569"/>
                </a:solidFill>
              </a:rPr>
              <a:t>Docker facilita el entorno compartido, pero es clave configurar las redes de contenedores desde el inicio del proyecto.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51960" y="1463040"/>
            <a:ext cx="3657600" cy="4480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51960" y="1463040"/>
            <a:ext cx="3657600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23560" y="1600200"/>
            <a:ext cx="1097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7C3AED"/>
                </a:solidFill>
              </a:rPr>
              <a:t>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25146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E3A5F"/>
                </a:solidFill>
              </a:rPr>
              <a:t>Sebastián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3063240"/>
            <a:ext cx="32918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75569"/>
                </a:solidFill>
              </a:rPr>
              <a:t>Los tests automatizados deben integrarse al sprint de QA, no dejarse en rama separada hasta el cierre.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38160" y="1463040"/>
            <a:ext cx="3657600" cy="4480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38160" y="1463040"/>
            <a:ext cx="3657600" cy="7315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09760" y="1600200"/>
            <a:ext cx="1097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16A34A"/>
                </a:solidFill>
              </a:rPr>
              <a:t>📊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25146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E3A5F"/>
                </a:solidFill>
              </a:rPr>
              <a:t>Marlon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3063240"/>
            <a:ext cx="32918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75569"/>
                </a:solidFill>
              </a:rPr>
              <a:t>Los gráficos del frontend requieren más tiempo del estimado. Deben tener su propio Story Point desde la planeación.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0"/>
            <a:ext cx="12188952" cy="1828800"/>
          </a:xfrm>
          <a:prstGeom prst="rect">
            <a:avLst/>
          </a:prstGeom>
          <a:solidFill>
            <a:srgbClr val="17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926080"/>
            <a:ext cx="73152" cy="14630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097280"/>
            <a:ext cx="1218895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800" b="1" i="0">
                <a:solidFill>
                  <a:srgbClr val="FFFFFF"/>
                </a:solidFill>
              </a:rPr>
              <a:t>¡Gracias!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2423160"/>
            <a:ext cx="12188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38BDF8"/>
                </a:solidFill>
              </a:rPr>
              <a:t>Arriendos360  ·  Junio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3383280"/>
            <a:ext cx="1737360" cy="411480"/>
          </a:xfrm>
          <a:prstGeom prst="rect">
            <a:avLst/>
          </a:prstGeom>
          <a:solidFill>
            <a:srgbClr val="2D4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17320" y="3419856"/>
            <a:ext cx="16459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38BDF8"/>
                </a:solidFill>
              </a:rPr>
              <a:t>React 18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3383280"/>
            <a:ext cx="1737360" cy="411480"/>
          </a:xfrm>
          <a:prstGeom prst="rect">
            <a:avLst/>
          </a:prstGeom>
          <a:solidFill>
            <a:srgbClr val="2D4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3419856"/>
            <a:ext cx="16459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38BDF8"/>
                </a:solidFill>
              </a:rPr>
              <a:t>Node.js + Express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212080" y="3383280"/>
            <a:ext cx="1737360" cy="411480"/>
          </a:xfrm>
          <a:prstGeom prst="rect">
            <a:avLst/>
          </a:prstGeom>
          <a:solidFill>
            <a:srgbClr val="2D4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57800" y="3419856"/>
            <a:ext cx="16459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38BDF8"/>
                </a:solidFill>
              </a:rPr>
              <a:t>PostgreSQL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32320" y="3383280"/>
            <a:ext cx="1737360" cy="411480"/>
          </a:xfrm>
          <a:prstGeom prst="rect">
            <a:avLst/>
          </a:prstGeom>
          <a:solidFill>
            <a:srgbClr val="2D4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78040" y="3419856"/>
            <a:ext cx="16459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38BDF8"/>
                </a:solidFill>
              </a:rPr>
              <a:t>Docker Compose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52560" y="3383280"/>
            <a:ext cx="1737360" cy="411480"/>
          </a:xfrm>
          <a:prstGeom prst="rect">
            <a:avLst/>
          </a:prstGeom>
          <a:solidFill>
            <a:srgbClr val="2D4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98280" y="3419856"/>
            <a:ext cx="16459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38BDF8"/>
                </a:solidFill>
              </a:rPr>
              <a:t>JWT + bcrypt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0" y="5212080"/>
            <a:ext cx="8503920" cy="5486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011680" y="52578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38BDF8"/>
                </a:solidFill>
              </a:rPr>
              <a:t>🔗  github.com/UDFJDC-IngenieriaSoftware/IS_202610_E2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0" y="5989320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AA8D1"/>
                </a:solidFill>
              </a:rPr>
              <a:t>Laura Merchán  ·  Sebastián Díaz  ·  Marlon Herrera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